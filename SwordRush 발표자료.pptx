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43" d="100"/>
          <a:sy n="143" d="100"/>
        </p:scale>
        <p:origin x="68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73152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맑은 고딕"/>
              </a:rPr>
              <a:t>UNITY 2D MOBILE GAME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82296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5400" b="1" i="0">
                <a:solidFill>
                  <a:srgbClr val="1E2761"/>
                </a:solidFill>
                <a:latin typeface="맑은 고딕"/>
              </a:rPr>
              <a:t>Sword Rush 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822960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  <a:latin typeface="맑은 고딕"/>
              </a:rPr>
              <a:t>웨이브를 막아라 — 타워 · 영웅 · 특수능력으로 짜는 디펜스 전략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520440"/>
            <a:ext cx="14630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333333"/>
                </a:solidFill>
                <a:latin typeface="맑은 고딕"/>
              </a:rPr>
              <a:t>발표자  김성수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맑은 고딕"/>
              </a:rPr>
              <a:t>프로젝트 기간  2026.05.15 — 2026.06.08  ·  v0.1.0 Build 1~3 + Polish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7083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맑은 고딕"/>
              </a:rPr>
              <a:t>버전 2  ·  Build 3 이후 모바일 안정화/UX 개선 포함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오늘 발표 순서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402336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73152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029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  <a:latin typeface="맑은 고딕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380744"/>
            <a:ext cx="22860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게임 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73352"/>
            <a:ext cx="3108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장르, 컨셉, 플랫폼, 핵심 루프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402336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73152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148839"/>
            <a:ext cx="5029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  <a:latin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157984"/>
            <a:ext cx="22860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구현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50591"/>
            <a:ext cx="3108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시스템과 콘텐츠 한눈에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02336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880360"/>
            <a:ext cx="73152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926079"/>
            <a:ext cx="5029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  <a:latin typeface="맑은 고딕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935224"/>
            <a:ext cx="22860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개발 일정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227832"/>
            <a:ext cx="3108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Build 1 → 2 → 3 → Polish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57600"/>
            <a:ext cx="402336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3657600"/>
            <a:ext cx="73152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703320"/>
            <a:ext cx="5029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  <a:latin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712463"/>
            <a:ext cx="22860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Deep Dive 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005072"/>
            <a:ext cx="3108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웨이포인트 + 다중 경로 웨이브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1325880"/>
            <a:ext cx="402336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663440" y="1325880"/>
            <a:ext cx="73152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46320" y="1371600"/>
            <a:ext cx="5029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  <a:latin typeface="맑은 고딕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79" y="1380744"/>
            <a:ext cx="22860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Deep Dive 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79" y="1673352"/>
            <a:ext cx="3108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타워 분기 진화 시스템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2103120"/>
            <a:ext cx="402336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663440" y="2103120"/>
            <a:ext cx="73152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46320" y="2148839"/>
            <a:ext cx="5029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  <a:latin typeface="맑은 고딕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79" y="2157984"/>
            <a:ext cx="22860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Deep Dive 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40679" y="2450591"/>
            <a:ext cx="3108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Build 3 이후 폴리시 &amp; 버그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2880360"/>
            <a:ext cx="402336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663440" y="2880360"/>
            <a:ext cx="73152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46320" y="2926079"/>
            <a:ext cx="5029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  <a:latin typeface="맑은 고딕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2935224"/>
            <a:ext cx="22860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느낀점 / Q &amp; 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3227832"/>
            <a:ext cx="3108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맑은 고딕"/>
              </a:rPr>
              <a:t>한 달의 회고와 시연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맑은 고딕"/>
              </a:rPr>
              <a:t>1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01 · GAME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어떤 게임인가요?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000" b="1" i="0">
                <a:solidFill>
                  <a:srgbClr val="1E2761"/>
                </a:solidFill>
                <a:latin typeface="맑은 고딕"/>
              </a:rPr>
              <a:t>정통 타워 디펜스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029200" cy="1097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맑은 고딕"/>
              </a:rPr>
              <a:t>지정 경로로 진격하는 적군이 목표 지점에 도달하지 못하도록,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맑은 고딕"/>
              </a:rPr>
              <a:t>타워를 짓고 강화하며 막아내는 Unity 2D 모바일 게임.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50292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맑은 고딕"/>
              </a:rPr>
              <a:t>핵심 재미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20440"/>
            <a:ext cx="5029200" cy="12801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맑은 고딕"/>
              </a:rPr>
              <a:t>· 제한된 골드로 무엇을, 어디에, 어떤 순서로 강화할 것인가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맑은 고딕"/>
              </a:rPr>
              <a:t>· 여러 경로에서 동시에 들어오는 압박을 어떻게 분산시킬 것인가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맑은 고딕"/>
              </a:rPr>
              <a:t>· 위기 순간 — 특수능력을 언제 쓸 것인가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0" y="1371600"/>
            <a:ext cx="283464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0" y="1371600"/>
            <a:ext cx="73152" cy="32004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0" y="1481328"/>
            <a:ext cx="24688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맑은 고딕"/>
              </a:rPr>
              <a:t>PROJECT 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874519"/>
            <a:ext cx="8229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맑은 고딕"/>
              </a:rPr>
              <a:t>장르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874519"/>
            <a:ext cx="1737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정통 Tower Defense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286000"/>
            <a:ext cx="8229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맑은 고딕"/>
              </a:rPr>
              <a:t>엔진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286000"/>
            <a:ext cx="1737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Unity (2D)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697479"/>
            <a:ext cx="8229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맑은 고딕"/>
              </a:rPr>
              <a:t>플랫폼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697479"/>
            <a:ext cx="1737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Mobile (Android APK)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108960"/>
            <a:ext cx="8229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맑은 고딕"/>
              </a:rPr>
              <a:t>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108960"/>
            <a:ext cx="1737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v0.1.0 Build 1~3+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520439"/>
            <a:ext cx="8229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맑은 고딕"/>
              </a:rPr>
              <a:t>커밋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520439"/>
            <a:ext cx="1737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130+ commits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931920"/>
            <a:ext cx="8229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맑은 고딕"/>
              </a:rPr>
              <a:t>기간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3931920"/>
            <a:ext cx="1737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약 4주 + 폴리시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맑은 고딕"/>
              </a:rPr>
              <a:t>2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01 · GAME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한 판의 흐름 — Core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5544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60120" y="1554480"/>
            <a:ext cx="548640" cy="5486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581912"/>
            <a:ext cx="5486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1463039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1" i="0">
                <a:solidFill>
                  <a:srgbClr val="1E2761"/>
                </a:solidFill>
                <a:latin typeface="맑은 고딕"/>
              </a:rPr>
              <a:t>웨이브 시작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51760"/>
            <a:ext cx="1463039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  <a:latin typeface="맑은 고딕"/>
              </a:rPr>
              <a:t>여러 경로에서 적이 진격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417320"/>
            <a:ext cx="15544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06039" y="1554480"/>
            <a:ext cx="548640" cy="5486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06039" y="1581912"/>
            <a:ext cx="5486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39" y="2286000"/>
            <a:ext cx="1463039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1" i="0">
                <a:solidFill>
                  <a:srgbClr val="1E2761"/>
                </a:solidFill>
                <a:latin typeface="맑은 고딕"/>
              </a:rPr>
              <a:t>방어 구축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39" y="2651760"/>
            <a:ext cx="1463039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  <a:latin typeface="맑은 고딕"/>
              </a:rPr>
              <a:t>골드로 타워 건설 · 업그레이드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49039" y="1417320"/>
            <a:ext cx="15544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51959" y="1554480"/>
            <a:ext cx="548640" cy="5486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51959" y="1581912"/>
            <a:ext cx="5486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59" y="2286000"/>
            <a:ext cx="1463039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1" i="0">
                <a:solidFill>
                  <a:srgbClr val="1E2761"/>
                </a:solidFill>
                <a:latin typeface="맑은 고딕"/>
              </a:rPr>
              <a:t>전투 / 위기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59" y="2651760"/>
            <a:ext cx="1463039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  <a:latin typeface="맑은 고딕"/>
              </a:rPr>
              <a:t>특수능력으로 위기 돌파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60" y="1417320"/>
            <a:ext cx="15544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897880" y="1554480"/>
            <a:ext cx="548640" cy="5486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97880" y="1581912"/>
            <a:ext cx="5486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2286000"/>
            <a:ext cx="1463039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1" i="0">
                <a:solidFill>
                  <a:srgbClr val="1E2761"/>
                </a:solidFill>
                <a:latin typeface="맑은 고딕"/>
              </a:rPr>
              <a:t>보상 획득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2651760"/>
            <a:ext cx="1463039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  <a:latin typeface="맑은 고딕"/>
              </a:rPr>
              <a:t>골드 획득 · 다음 웨이브 준비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417320"/>
            <a:ext cx="15544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543800" y="1554480"/>
            <a:ext cx="548640" cy="5486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43800" y="1581912"/>
            <a:ext cx="5486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286000"/>
            <a:ext cx="1463039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1" i="0">
                <a:solidFill>
                  <a:srgbClr val="1E2761"/>
                </a:solidFill>
                <a:latin typeface="맑은 고딕"/>
              </a:rPr>
              <a:t>결과 판정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2651760"/>
            <a:ext cx="1463039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  <a:latin typeface="맑은 고딕"/>
              </a:rPr>
              <a:t>라이프 잔량으로 ★ 1~3 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3931920"/>
            <a:ext cx="18288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종료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3931920"/>
            <a:ext cx="27432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맑은 고딕"/>
              </a:rPr>
              <a:t>Game Over  ·  라이프 ≤ 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3931920"/>
            <a:ext cx="3657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맑은 고딕"/>
              </a:rPr>
              <a:t>Victory  ·  마지막 웨이브까지 전부 방어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251960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결과 화면에서 라이프 비율로 ★1~3 평가 — 같은 클리어도 운영 효율로 차등화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맑은 고딕"/>
              </a:rPr>
              <a:t>3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02 ·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구현한 시스템 한눈에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2029968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029968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581912"/>
            <a:ext cx="1700784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타일맵 · 경로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103120"/>
            <a:ext cx="1700784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Waypoint 기반 EnemyPath · 다중 경로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1325880"/>
            <a:ext cx="2029968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560320" y="1325880"/>
            <a:ext cx="2029968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24912" y="1581912"/>
            <a:ext cx="1700784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웨이브 디렉터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24912" y="2103120"/>
            <a:ext cx="1700784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병렬 SpawnEntry · 난이도 곡선 · 호출 보상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325880"/>
            <a:ext cx="2029968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663440" y="1325880"/>
            <a:ext cx="2029968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8032" y="1581912"/>
            <a:ext cx="1700784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타워 · 빌드 시스템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2" y="2103120"/>
            <a:ext cx="1700784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BuildSpot 라디얼 메뉴 · 분기 진화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1325880"/>
            <a:ext cx="2029968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766560" y="1325880"/>
            <a:ext cx="2029968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31152" y="1581912"/>
            <a:ext cx="1700784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전투 · 페어 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2103120"/>
            <a:ext cx="1700784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보병/적 1:1 페어, 측면 교전, windup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90087"/>
            <a:ext cx="2029968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2990087"/>
            <a:ext cx="2029968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" y="3246120"/>
            <a:ext cx="1700784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영웅 · 보병 · 적군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3767327"/>
            <a:ext cx="1700784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근접/원거리/힐러/탱커/공중/보스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2990087"/>
            <a:ext cx="2029968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560320" y="2990087"/>
            <a:ext cx="2029968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24912" y="3246120"/>
            <a:ext cx="1700784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특수능력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24912" y="3767327"/>
            <a:ext cx="1700784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지원군 소환 · 용암 장판 (영역 지정)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2990087"/>
            <a:ext cx="2029968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663440" y="2990087"/>
            <a:ext cx="2029968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28032" y="3246120"/>
            <a:ext cx="1700784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UI · HUD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8032" y="3767327"/>
            <a:ext cx="1700784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골드/라이프/웨이브 · 일시정지 · ★ 결과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2990087"/>
            <a:ext cx="2029968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766560" y="2990087"/>
            <a:ext cx="202996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31152" y="3246120"/>
            <a:ext cx="1700784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모바일 안정화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3767327"/>
            <a:ext cx="1700784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Android 60fps · 화살 step-aware 명중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02168" y="3154679"/>
            <a:ext cx="4572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800" b="1" i="0">
                <a:solidFill>
                  <a:srgbClr val="F59E0B"/>
                </a:solidFill>
                <a:latin typeface="맑은 고딕"/>
              </a:rPr>
              <a:t>NEW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맑은 고딕"/>
              </a:rPr>
              <a:t>4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02 ·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콘텐츠로 보는 구현 범위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920240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맑은 고딕"/>
              </a:rPr>
              <a:t>3 + 4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맑은 고딕"/>
              </a:rPr>
              <a:t>타워 종류 + 분기 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325880"/>
            <a:ext cx="1920240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맑은 고딕"/>
              </a:rPr>
              <a:t>6+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맑은 고딕"/>
              </a:rPr>
              <a:t>적 유닛 (보스 포함)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325880"/>
            <a:ext cx="1920240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맑은 고딕"/>
              </a:rPr>
              <a:t>2 /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맑은 고딕"/>
              </a:rPr>
              <a:t>특수능력 / 영웅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59" y="1325880"/>
            <a:ext cx="1920240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맑은 고딕"/>
              </a:rPr>
              <a:t>130+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2057400"/>
            <a:ext cx="1920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맑은 고딕"/>
              </a:rPr>
              <a:t>총 Git 커밋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맑은 고딕"/>
              </a:rPr>
              <a:t>CONTENTS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26080"/>
            <a:ext cx="40233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4572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2999232"/>
            <a:ext cx="10972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타워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999232"/>
            <a:ext cx="25603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Archer · Mage · Barracks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926080"/>
            <a:ext cx="40233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663440" y="2926080"/>
            <a:ext cx="4572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28031" y="2999232"/>
            <a:ext cx="10972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분기 진화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999232"/>
            <a:ext cx="25603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Ranger / Sniper / Pyromancer / Frost Mage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29000"/>
            <a:ext cx="40233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429000"/>
            <a:ext cx="4572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" y="3502152"/>
            <a:ext cx="10972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지상 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3502152"/>
            <a:ext cx="25603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근접 · 원거리 · 힐러(Monk) · 탱커(Lancer)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429000"/>
            <a:ext cx="40233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663440" y="3429000"/>
            <a:ext cx="4572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28031" y="3502152"/>
            <a:ext cx="10972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공중 · 보스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3502152"/>
            <a:ext cx="25603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Bat · Boss (페이즈 시스템)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31920"/>
            <a:ext cx="40233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57200" y="3931920"/>
            <a:ext cx="4572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1792" y="4005072"/>
            <a:ext cx="10972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아군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05072"/>
            <a:ext cx="25603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보병 · 영웅(Hero Knight) · 지원군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63440" y="3931920"/>
            <a:ext cx="40233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663440" y="3931920"/>
            <a:ext cx="4572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828031" y="4005072"/>
            <a:ext cx="10972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특수능력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4005072"/>
            <a:ext cx="25603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Reinforcement · LavaZone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맑은 고딕"/>
              </a:rPr>
              <a:t>5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03 ·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약 4주 + 폴리시 — 4번의 사이클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2029968" cy="3246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029968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1755648" cy="182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맑은 고딕"/>
              </a:rPr>
              <a:t>5/15-21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Build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1755648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기반 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1755648" cy="2286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프로젝트 셋업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타일맵 · 경로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타워 3종 · 웨이브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HUD · 골드 경제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325880"/>
            <a:ext cx="2029968" cy="3246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0" y="1325880"/>
            <a:ext cx="2029968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97480" y="1371600"/>
            <a:ext cx="1755648" cy="182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맑은 고딕"/>
              </a:rPr>
              <a:t>5/26-29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554480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Build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874519"/>
            <a:ext cx="1755648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게임 루프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240280"/>
            <a:ext cx="1755648" cy="2286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다중 경로 웨이브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특수능력 2종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신규 적 4종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클리어/오버 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1325880"/>
            <a:ext cx="2029968" cy="3246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663440" y="1325880"/>
            <a:ext cx="2029968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00600" y="1371600"/>
            <a:ext cx="1755648" cy="182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맑은 고딕"/>
              </a:rPr>
              <a:t>6/02-08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1554480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Build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874519"/>
            <a:ext cx="1755648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콘텐츠 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240280"/>
            <a:ext cx="1755648" cy="2286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영웅 유닛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보스 페이즈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메인메뉴 씬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타워 분기 진화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결과 화면 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1325880"/>
            <a:ext cx="2029968" cy="3246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766560" y="1325880"/>
            <a:ext cx="2029968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03720" y="1371600"/>
            <a:ext cx="1755648" cy="182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맑은 고딕"/>
              </a:rPr>
              <a:t>6/08~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1554480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Polish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1874519"/>
            <a:ext cx="1755648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QA &amp; 안정화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2240280"/>
            <a:ext cx="1755648" cy="2286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모바일 화살 잔존 fix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분기 진화 아이콘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영웅 사망 모션 fix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Frost Mage 슬로우 틴트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17720"/>
            <a:ext cx="8229600" cy="182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맑은 고딕"/>
              </a:rPr>
              <a:t>각 빌드 종료마다 빌드 노트 + 결과 보고서 + 다음 빌드 계획 문서화. Polish 는 모바일 QA 발견 이슈 대응.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맑은 고딕"/>
              </a:rPr>
              <a:t>6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03 ·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빌드별 핵심 성과 — Build 1 → 2 → 3 → Polish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2029968" cy="3246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029968" cy="5943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</a:rPr>
              <a:t>기반 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맑은 고딕"/>
              </a:rPr>
              <a:t>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94560"/>
            <a:ext cx="1755648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맑은 고딕"/>
              </a:rPr>
              <a:t>최소 동작 게임 완성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60320"/>
            <a:ext cx="1755648" cy="2011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타워 3종 + Lv1→3 업글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웨이포인트 경로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단일 웨이브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골드/라이프 HUD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배럭 보병 자동 배치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1325880"/>
            <a:ext cx="2029968" cy="3246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60320" y="1325880"/>
            <a:ext cx="202996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97480" y="1371600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BUILD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27632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</a:rPr>
              <a:t>게임 루프 완성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011680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맑은 고딕"/>
              </a:rPr>
              <a:t>FOCUS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194560"/>
            <a:ext cx="1755648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맑은 고딕"/>
              </a:rPr>
              <a:t>디펜스다운 깊이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60320"/>
            <a:ext cx="1755648" cy="2011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다중 경로 + 다중 웨이브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특수능력 (지원군/용암)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신규 적: 힐러 · 탱커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랠리 포인트 지정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325880"/>
            <a:ext cx="2029968" cy="3246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663440" y="1325880"/>
            <a:ext cx="2029968" cy="5943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00600" y="1371600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BUILD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1627632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</a:rPr>
              <a:t>콘텐츠 확장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011680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맑은 고딕"/>
              </a:rPr>
              <a:t>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2194560"/>
            <a:ext cx="1755648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맑은 고딕"/>
              </a:rPr>
              <a:t>전략 다양성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2560320"/>
            <a:ext cx="1755648" cy="2011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공중 적(Bat) + 보스 페이즈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영웅 유닛 (배치형)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분기 진화 (Ranger/Sniper)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메인메뉴 + ★ 결과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1325880"/>
            <a:ext cx="2029968" cy="3246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766560" y="1325880"/>
            <a:ext cx="202996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03720" y="1371600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POLISH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1627632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</a:rPr>
              <a:t>모바일 안정화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2011680"/>
            <a:ext cx="1755648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맑은 고딕"/>
              </a:rPr>
              <a:t>FOCUS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194560"/>
            <a:ext cx="1755648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맑은 고딕"/>
              </a:rPr>
              <a:t>실 디바이스 QA 반영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2560320"/>
            <a:ext cx="1755648" cy="2011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화살 step-aware 명중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60fps 고정 (Android)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분기 진화 아이콘 분리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영웅 사망/부활 모션 fix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맑은 고딕"/>
              </a:rPr>
              <a:t>· Frost Mage 슬로우 틴트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맑은 고딕"/>
              </a:rPr>
              <a:t>7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64592" cy="4229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73152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맑은 고딕"/>
              </a:rPr>
              <a:t>DEEP DIVE 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7315200" cy="1188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맑은 고딕"/>
              </a:rPr>
              <a:t>웨이포인트 경로 +</a:t>
            </a:r>
          </a:p>
          <a:p>
            <a:pPr algn="l"/>
            <a:r>
              <a:rPr sz="3600" b="1" i="0">
                <a:solidFill>
                  <a:srgbClr val="FFFFFF"/>
                </a:solidFill>
                <a:latin typeface="맑은 고딕"/>
              </a:rPr>
              <a:t>다중 경로 웨이브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91840"/>
            <a:ext cx="7315200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0" i="1">
                <a:solidFill>
                  <a:srgbClr val="99C5F0"/>
                </a:solidFill>
                <a:latin typeface="맑은 고딕"/>
              </a:rPr>
              <a:t>한 경로만 막던 디펜스에서, 동시에 들어오는</a:t>
            </a:r>
          </a:p>
          <a:p>
            <a:pPr algn="l"/>
            <a:r>
              <a:rPr sz="1400" b="0" i="1">
                <a:solidFill>
                  <a:srgbClr val="99C5F0"/>
                </a:solidFill>
                <a:latin typeface="맑은 고딕"/>
              </a:rPr>
              <a:t>여러 갈래를 어떻게 막을 것인가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C5F0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C5F0"/>
                </a:solidFill>
                <a:latin typeface="맑은 고딕"/>
              </a:rPr>
              <a:t>8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DEEP DIVE ① ·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EnemyPath — 자식 Transform = 웨이포인트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맑은 고딕"/>
              </a:rPr>
              <a:t>설계 아이디어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2286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맑은 고딕"/>
              </a:rPr>
              <a:t>· 자식 GameObject 순서 = 경로 순서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맑은 고딕"/>
              </a:rPr>
              <a:t>· 에디터에서 자식 Transform 만 드래그하면 그대로 경로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맑은 고딕"/>
              </a:rPr>
              <a:t>· Spawn = Waypoints[0], End = Waypoints[Count-1]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맑은 고딕"/>
              </a:rPr>
              <a:t>· OnDrawGizmos 로 씬뷰에 점 + 선 표시 (디자이너 친화)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맑은 고딕"/>
              </a:rPr>
              <a:t>· EnemyPath 여러 개 = 즉시 다중 경로 지원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0" y="1325880"/>
            <a:ext cx="2926080" cy="3246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0" y="1417320"/>
            <a:ext cx="25603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경로 구조 예시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2057400"/>
            <a:ext cx="164592" cy="16459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59" y="2103120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69479" y="2103120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818120" y="2057400"/>
            <a:ext cx="164592" cy="16459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92440" y="2029968"/>
            <a:ext cx="3657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743200"/>
            <a:ext cx="164592" cy="16459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2788920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766559" y="2788920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269479" y="2788920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18120" y="2743200"/>
            <a:ext cx="164592" cy="16459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92440" y="2715768"/>
            <a:ext cx="3657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3429000"/>
            <a:ext cx="164592" cy="16459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3474720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766559" y="3474720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269479" y="3474720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818120" y="3429000"/>
            <a:ext cx="164592" cy="16459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2440" y="3401568"/>
            <a:ext cx="3657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160520"/>
            <a:ext cx="25603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맑은 고딕"/>
              </a:rPr>
              <a:t>●스폰  ◆웨이포인트  ●골인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맑은 고딕"/>
              </a:rPr>
              <a:t>9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DEEP DIVE ① · 웨이브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WaveData — startOffset 기반 병렬 스폰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7955279" cy="868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맑은 고딕"/>
              </a:rPr>
              <a:t>한 웨이브 안의 SpawnEntry 들은 startOffset 시점에 "동시에" 시작된다.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맑은 고딕"/>
              </a:rPr>
              <a:t>같은 시간 = 좌우 동시 발진, 시간차 = 시간차 진입.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맑은 고딕"/>
              </a:rPr>
              <a:t>다중 경로 압박을 데이터만으로 표현.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8229600" cy="201168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77724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맑은 고딕"/>
              </a:rPr>
              <a:t>WaveDirector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8404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• pathId → EnemySpawner 라우팅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63240"/>
            <a:ext cx="41148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경로별 SpawnEntry 분리, 동일 웨이브에서 다중 경로 처리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66160"/>
            <a:ext cx="38404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• AnimationCurve 난이도 곡선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66160"/>
            <a:ext cx="41148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count / interval / hp 곡선으로 후반 가중 증폭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69080"/>
            <a:ext cx="38404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• 다음 웨이브 일찍 호출 → 능력 쿨감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069080"/>
            <a:ext cx="41148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절약된 시간을 특수능력 쿨다운 보상으로 환원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맑은 고딕"/>
              </a:rPr>
              <a:t>10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64592" cy="4229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73152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맑은 고딕"/>
              </a:rPr>
              <a:t>DEEP DIVE 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7315200" cy="1188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맑은 고딕"/>
              </a:rPr>
              <a:t>타워 분기 진화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7315200" cy="1188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0" i="1">
                <a:solidFill>
                  <a:srgbClr val="99C5F0"/>
                </a:solidFill>
                <a:latin typeface="맑은 고딕"/>
              </a:rPr>
              <a:t>Lv1 → Lv2 → Lv3 까지 단일 진화.</a:t>
            </a:r>
          </a:p>
          <a:p>
            <a:pPr algn="l"/>
            <a:r>
              <a:rPr sz="1400" b="0" i="1">
                <a:solidFill>
                  <a:srgbClr val="99C5F0"/>
                </a:solidFill>
                <a:latin typeface="맑은 고딕"/>
              </a:rPr>
              <a:t>Lv3 에서 두 갈래로 분기 — 같은 타워도 다른 전략.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C5F0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C5F0"/>
                </a:solidFill>
                <a:latin typeface="맑은 고딕"/>
              </a:rPr>
              <a:t>11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DEEP DIVE ② · 아키텍처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BuildingData.nextBranches — 데이터 한 줄로 분기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4297680" cy="3246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73152" cy="32461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40233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핵심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40233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ScriptableObject 한 필드의 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03120"/>
            <a:ext cx="3931920" cy="12801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76272"/>
            <a:ext cx="3657600" cy="11704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50" b="0" i="0">
                <a:solidFill>
                  <a:srgbClr val="99C5F0"/>
                </a:solidFill>
                <a:latin typeface="Consolas"/>
              </a:rPr>
              <a:t>public BuildingData nextUpgrade;</a:t>
            </a:r>
          </a:p>
          <a:p>
            <a:pPr algn="l"/>
            <a:r>
              <a:rPr sz="950" b="0" i="0">
                <a:solidFill>
                  <a:srgbClr val="99C5F0"/>
                </a:solidFill>
                <a:latin typeface="Consolas"/>
              </a:rPr>
              <a:t>public BuildingData[] nextBranches;</a:t>
            </a:r>
          </a:p>
          <a:p>
            <a:pPr algn="l"/>
            <a:r>
              <a:rPr sz="950" b="0" i="0">
                <a:solidFill>
                  <a:srgbClr val="99C5F0"/>
                </a:solidFill>
                <a:latin typeface="Consolas"/>
              </a:rPr>
              <a:t>public Sprite upgradeSlotIcon;  // NEW</a:t>
            </a:r>
          </a:p>
          <a:p>
            <a:pPr algn="l"/>
            <a:r>
              <a:rPr sz="950" b="0" i="0">
                <a:solidFill>
                  <a:srgbClr val="99C5F0"/>
                </a:solidFill>
                <a:latin typeface="Consolas"/>
              </a:rPr>
              <a:t>// 분기 1+ 이면 nextBranches 우선</a:t>
            </a:r>
          </a:p>
          <a:p>
            <a:pPr algn="l"/>
            <a:r>
              <a:rPr sz="950" b="0" i="0">
                <a:solidFill>
                  <a:srgbClr val="99C5F0"/>
                </a:solidFill>
                <a:latin typeface="Consolas"/>
              </a:rPr>
              <a:t>// 슬롯 아이콘은 분기별 시각 구분용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0440"/>
            <a:ext cx="402336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· 기존 단일 업그레이드 자산은 그대로 동작 (회귀 없음)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· 분기를 쓸 타워만 nextBranches 채우면 끝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· 새 upgradeSlotIcon 으로 분기 슬롯 시각화 (Polish)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325880"/>
            <a:ext cx="3749039" cy="3246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20640" y="1417320"/>
            <a:ext cx="34747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맑은 고딕"/>
              </a:rPr>
              <a:t>라디얼 메뉴 분기 표시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240280"/>
            <a:ext cx="1005840" cy="10058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72200" y="2240280"/>
            <a:ext cx="1005840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TOWER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1463040"/>
            <a:ext cx="768096" cy="7680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94960" y="1463040"/>
            <a:ext cx="768096" cy="76809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분기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78040" y="1463040"/>
            <a:ext cx="768096" cy="7680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8040" y="1463040"/>
            <a:ext cx="768096" cy="76809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분기 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566160"/>
            <a:ext cx="548640" cy="5486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3566160"/>
            <a:ext cx="54864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SELL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297680"/>
            <a:ext cx="34747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50" b="0" i="0">
                <a:solidFill>
                  <a:srgbClr val="555555"/>
                </a:solidFill>
                <a:latin typeface="맑은 고딕"/>
              </a:rPr>
              <a:t>후보 1개 → 12시 · 2개 → 11/1시 · 3개+ 균등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맑은 고딕"/>
              </a:rPr>
              <a:t>12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DEEP DIVE ② · 분기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두 갈래, 네 가지 전략 — Archer &amp; Mage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402336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402336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3657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ARCHER  ·  Lv3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965960"/>
            <a:ext cx="3749039" cy="109728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029968"/>
            <a:ext cx="34747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Ranger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4747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  <a:latin typeface="맑은 고딕"/>
              </a:rPr>
              <a:t>빠른 다단 사격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42032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공격속도↑ — 다수 처리에 유리한 DPS 분포형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154680"/>
            <a:ext cx="3749039" cy="109728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218688"/>
            <a:ext cx="34747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Sniper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34747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  <a:latin typeface="맑은 고딕"/>
              </a:rPr>
              <a:t>고데미지 저격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30752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단일 고데미지 — 탱커/보스 단숨에 깎는 단발형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325880"/>
            <a:ext cx="402336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63440" y="1325880"/>
            <a:ext cx="402336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46320" y="1389888"/>
            <a:ext cx="3657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MAGE  ·  Lv3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1965960"/>
            <a:ext cx="3749039" cy="109728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83480" y="2029968"/>
            <a:ext cx="34747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Pyromancer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2286000"/>
            <a:ext cx="34747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  <a:latin typeface="맑은 고딕"/>
              </a:rPr>
              <a:t>광역 (AoE)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2542032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splashRadius — 명중 지점 반경 내 적 전원 피해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3154680"/>
            <a:ext cx="3749039" cy="1097280"/>
          </a:xfrm>
          <a:prstGeom prst="rect">
            <a:avLst/>
          </a:prstGeom>
          <a:solidFill>
            <a:srgbClr val="99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83480" y="3218688"/>
            <a:ext cx="34747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Frost 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3474720"/>
            <a:ext cx="347472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맑은 고딕"/>
              </a:rPr>
              <a:t>둔화 (Slow) + 청색 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3730752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slowAmount + slowDuration · 피격 적이 시각적으로도 얼어붙음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  <a:latin typeface="맑은 고딕"/>
              </a:rPr>
              <a:t>같은 자원 · 같은 위치 · 다른 전략 — 분기 선택만으로 운영이 달라진다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맑은 고딕"/>
              </a:rPr>
              <a:t>13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64592" cy="4229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73152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맑은 고딕"/>
              </a:rPr>
              <a:t>DEEP DIVE 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7315200" cy="1188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맑은 고딕"/>
              </a:rPr>
              <a:t>Build 3+ Polish</a:t>
            </a:r>
          </a:p>
          <a:p>
            <a:pPr algn="l"/>
            <a:r>
              <a:rPr sz="3200" b="1" i="0">
                <a:solidFill>
                  <a:srgbClr val="FFFFFF"/>
                </a:solidFill>
                <a:latin typeface="맑은 고딕"/>
              </a:rPr>
              <a:t>— 모바일 QA &amp; 사용성 개선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7315200" cy="1188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0" i="1">
                <a:solidFill>
                  <a:srgbClr val="99C5F0"/>
                </a:solidFill>
                <a:latin typeface="맑은 고딕"/>
              </a:rPr>
              <a:t>실제 Android 디바이스에서 발견된 4가지 이슈와</a:t>
            </a:r>
          </a:p>
          <a:p>
            <a:pPr algn="l"/>
            <a:r>
              <a:rPr sz="1400" b="0" i="1">
                <a:solidFill>
                  <a:srgbClr val="99C5F0"/>
                </a:solidFill>
                <a:latin typeface="맑은 고딕"/>
              </a:rPr>
              <a:t>코드/데이터로 해결한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C5F0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C5F0"/>
                </a:solidFill>
                <a:latin typeface="맑은 고딕"/>
              </a:rPr>
              <a:t>14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DEEP DIVE ③ · 폴리시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4가지 핵심 수정 — 데이터로 본 차이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4023360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73152" cy="15087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399032"/>
            <a:ext cx="4572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맑은 고딕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417320"/>
            <a:ext cx="32004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맑은 고딕"/>
              </a:rPr>
              <a:t>모바일 화살 잔존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64792"/>
            <a:ext cx="3657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1">
                <a:solidFill>
                  <a:srgbClr val="DC2626"/>
                </a:solidFill>
                <a:latin typeface="맑은 고딕"/>
              </a:rPr>
              <a:t>문제 · Android 기본 30fps 캡 → 화살이 적을 건너뜀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39112"/>
            <a:ext cx="36576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Application.targetFrameRate = 60 부트스트랩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step &gt;= 남은거리 명중 판정 (Arrow / Magic)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325880"/>
            <a:ext cx="4023360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63440" y="1325880"/>
            <a:ext cx="73152" cy="15087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64608" y="1399032"/>
            <a:ext cx="4572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맑은 고딕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417320"/>
            <a:ext cx="32004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맑은 고딕"/>
              </a:rPr>
              <a:t>분기 진화 아이콘 분리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1764792"/>
            <a:ext cx="3657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1">
                <a:solidFill>
                  <a:srgbClr val="DC2626"/>
                </a:solidFill>
                <a:latin typeface="맑은 고딕"/>
              </a:rPr>
              <a:t>문제 · 단일 업글과 분기 슬롯이 시각적으로 동일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39112"/>
            <a:ext cx="36576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BuildingData.upgradeSlotIcon 필드 추가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공용 evolveIcon 폴백 (분기/단일 자동 구분)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71800"/>
            <a:ext cx="4023360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2971800"/>
            <a:ext cx="73152" cy="15087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3044952"/>
            <a:ext cx="4572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맑은 고딕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063240"/>
            <a:ext cx="32004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맑은 고딕"/>
              </a:rPr>
              <a:t>영웅 사망/부활 모션 꼬임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410712"/>
            <a:ext cx="3657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1">
                <a:solidFill>
                  <a:srgbClr val="DC2626"/>
                </a:solidFill>
                <a:latin typeface="맑은 고딕"/>
              </a:rPr>
              <a:t>문제 · Attack 중 사망 시 부활하면 자세 잔재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685032"/>
            <a:ext cx="36576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Animator.Play("Die"/"Idle", 0, 0f) 강제 점프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트랜지션 그래프 결함(Attack→Die 부재) 우회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971800"/>
            <a:ext cx="4023360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663440" y="2971800"/>
            <a:ext cx="73152" cy="15087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64608" y="3044952"/>
            <a:ext cx="4572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맑은 고딕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063240"/>
            <a:ext cx="32004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맑은 고딕"/>
              </a:rPr>
              <a:t>Frost Mage 슬로우 시각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608" y="3410712"/>
            <a:ext cx="3657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1">
                <a:solidFill>
                  <a:srgbClr val="DC2626"/>
                </a:solidFill>
                <a:latin typeface="맑은 고딕"/>
              </a:rPr>
              <a:t>문제 · 슬로우 걸린 적인지 한눈에 안 보임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3685032"/>
            <a:ext cx="36576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적 SpriteRenderer 들을 청색 톤으로 일괄 틴트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맑은 고딕"/>
              </a:rPr>
              <a:t>· 만료 시 원본 복원 (페이즈 깜빡임과 공존)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맑은 고딕"/>
              </a:rPr>
              <a:t>15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04 · RETROSPECTIVE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한 달, 그리고 남은 것들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4023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73152" cy="1554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9144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  <a:latin typeface="맑은 고딕"/>
              </a:rPr>
              <a:t>GOOD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91640"/>
            <a:ext cx="3657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데이터 주도 설계의 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03120"/>
            <a:ext cx="36576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ScriptableObject(EnemyData / TowerData / WaveData / BuildingData)로 콘텐츠 자산화. 새 적/타워/분기를 코드 없이 추가.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325880"/>
            <a:ext cx="4023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663440" y="1325880"/>
            <a:ext cx="73152" cy="1554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64608" y="1417320"/>
            <a:ext cx="9144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  <a:latin typeface="맑은 고딕"/>
              </a:rPr>
              <a:t>GOOD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4608" y="1691640"/>
            <a:ext cx="3657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빌드 사이클을 반복한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8" y="2103120"/>
            <a:ext cx="36576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Build 1~3 + Polish 마다 빌드 노트 · 결과 보고서 · 다음 빌드 계획 문서화. 우선순위가 흐려지지 않음.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4023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971800"/>
            <a:ext cx="73152" cy="1554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3063240"/>
            <a:ext cx="9144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맑은 고딕"/>
              </a:rPr>
              <a:t>HARD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37560"/>
            <a:ext cx="3657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전투 디테일 + 모바일 QA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49039"/>
            <a:ext cx="36576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보병/적 1:1 페어 lock, 측면 교전, windup, 그리고 30fps 환경에서만 보이는 오버슈트 — 가장 많은 패치를 부른 영역.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2971800"/>
            <a:ext cx="4023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663440" y="2971800"/>
            <a:ext cx="73152" cy="1554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64608" y="3063240"/>
            <a:ext cx="9144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맑은 고딕"/>
              </a:rPr>
              <a:t>NEXT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3337560"/>
            <a:ext cx="3657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맑은 고딕"/>
              </a:rPr>
              <a:t>다음에 해보고 싶은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3749039"/>
            <a:ext cx="36576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맑은 고딕"/>
              </a:rPr>
              <a:t>FindObjectsByType 매 프레임 호출 → EnemyManager 등록제로 교체, 사운드/이펙트, 스테이지 다양화.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809744"/>
            <a:ext cx="548640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맑은 고딕"/>
              </a:rPr>
              <a:t>Unity 2D Tower Defense  ·  김성수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809744"/>
            <a:ext cx="640080" cy="228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맑은 고딕"/>
              </a:rPr>
              <a:t>16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맑은 고딕"/>
              </a:rPr>
              <a:t>05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맑은 고딕"/>
              </a:rPr>
              <a:t>시연 영상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4370832" y="2880360"/>
            <a:ext cx="402336" cy="457200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8229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맑은 고딕"/>
              </a:rP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8229600" cy="10058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맑은 고딕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14630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8229600" cy="411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맑은 고딕"/>
              </a:rPr>
              <a:t>발표를 들어주셔서 감사합니다.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8229600" cy="411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0" i="0">
                <a:solidFill>
                  <a:srgbClr val="99C5F0"/>
                </a:solidFill>
                <a:latin typeface="맑은 고딕"/>
              </a:rPr>
              <a:t>자유롭게 질문해 주세요.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0" i="1">
                <a:solidFill>
                  <a:srgbClr val="99C5F0"/>
                </a:solidFill>
                <a:latin typeface="맑은 고딕"/>
              </a:rPr>
              <a:t>김성수  ·  Unity 2D Tower Defense  ·  v0.1.0 Build 3 + Polish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8229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00" b="0" i="0">
                <a:solidFill>
                  <a:srgbClr val="999999"/>
                </a:solidFill>
                <a:latin typeface="맑은 고딕"/>
              </a:rPr>
              <a:t>rlatjdtn620@gmail.com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1588</Words>
  <Application>Microsoft Office PowerPoint</Application>
  <PresentationFormat>화면 슬라이드 쇼(16:9)</PresentationFormat>
  <Paragraphs>332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kimseongsoo</cp:lastModifiedBy>
  <cp:revision>2</cp:revision>
  <dcterms:created xsi:type="dcterms:W3CDTF">2013-01-27T09:14:16Z</dcterms:created>
  <dcterms:modified xsi:type="dcterms:W3CDTF">2026-06-08T08:13:01Z</dcterms:modified>
  <cp:category/>
</cp:coreProperties>
</file>